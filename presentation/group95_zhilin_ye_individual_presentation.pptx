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5156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1" i="0">
                <a:solidFill>
                  <a:srgbClr val="B8860B"/>
                </a:solidFill>
                <a:latin typeface="Calibri"/>
              </a:rPr>
              <a:t>GSOE9011  |  GROUP 95  |  INDIVIDUAL PRESENTATION</a:t>
            </a:r>
          </a:p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Experimental Design &amp; Feasibility</a:t>
            </a:r>
          </a:p>
          <a:p>
            <a:pPr algn="l">
              <a:spcAft>
                <a:spcPts val="0"/>
              </a:spcAft>
            </a:pPr>
            <a:r>
              <a:rPr sz="2400" b="0" i="0">
                <a:solidFill>
                  <a:srgbClr val="C9D4E6"/>
                </a:solidFill>
                <a:latin typeface="Calibri"/>
              </a:rPr>
              <a:t>for Context-Aware Non-Recurring Traffic Congestion 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5262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Zhilin Ye   z5719978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D4E6"/>
                </a:solidFill>
                <a:latin typeface="Calibri"/>
              </a:rPr>
              <a:t>My role: defining evaluation episodes, leakage controls, metrics &amp; decision rules,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C9D4E6"/>
                </a:solidFill>
                <a:latin typeface="Calibri"/>
              </a:rPr>
              <a:t>ablations, sensitivity analysis and risk planning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CONTEXT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The project in one minute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1A2744"/>
                </a:solidFill>
                <a:latin typeface="Calibri"/>
              </a:rPr>
              <a:t>Can incidents, weather and event schedules make 30-minute traffic forecasts reliable during disruptions,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1A2744"/>
                </a:solidFill>
                <a:latin typeface="Calibri"/>
              </a:rPr>
              <a:t>when models trained on routine sensor patterns fail exactly when early warning matters most?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103120"/>
            <a:ext cx="11155680" cy="178308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106070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RESEARCH QUESTION (pre-registered)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A2744"/>
                </a:solidFill>
                <a:latin typeface="Calibri"/>
              </a:rPr>
              <a:t>Can a context-aware deep-learning model integrating traffic sensors, incidents, weather and major-event schedules reduce the 30-minute MAE gap between recurring and non-recurring congestion by at least 20% versus a matched traffic-history baseline, while keeping recurring-congestion MAE within a 1% non-inferiority margin?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A6476"/>
                </a:solidFill>
                <a:latin typeface="Calibri"/>
              </a:rPr>
              <a:t>Greater Los Angeles freeway network  |  TraffiDent / PeMS 2022-2024  |  NOAA weather  |  venue event calendars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754880"/>
            <a:ext cx="11155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919472"/>
            <a:ext cx="10607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MY ROLE</a:t>
            </a:r>
          </a:p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The research question is a falsifiable, quantified claim. My job was to design the experiment that makes this claim testable: fairly, reproducibly, and within a 12-month budget.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OVERVIEW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My contribution: four building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544068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91440" cy="2148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2744"/>
                </a:solidFill>
                <a:latin typeface="Calibri"/>
              </a:rPr>
              <a:t>1. Evaluation episodes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A6476"/>
                </a:solidFill>
                <a:latin typeface="Calibri"/>
              </a:rPr>
              <a:t>What transparently counts as recurring vs non-recurring congestion; exposure rules for incidents, weather and events.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Proposal § 4.3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371600"/>
            <a:ext cx="544068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371600"/>
            <a:ext cx="91440" cy="2148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1536192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2744"/>
                </a:solidFill>
                <a:latin typeface="Calibri"/>
              </a:rPr>
              <a:t>2. Leakage controls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A6476"/>
                </a:solidFill>
                <a:latin typeface="Calibri"/>
              </a:rPr>
              <a:t>Chronological 60/20/20 splits, 7-day embargoes, episode-safe boundaries, forecast-time availability rules.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Proposal § 4.3, 4.5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94760"/>
            <a:ext cx="544068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794760"/>
            <a:ext cx="91440" cy="2148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959352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2744"/>
                </a:solidFill>
                <a:latin typeface="Calibri"/>
              </a:rPr>
              <a:t>3. Metrics &amp; decision rules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A6476"/>
                </a:solidFill>
                <a:latin typeface="Calibri"/>
              </a:rPr>
              <a:t>MAE / WAPE choice, episode-block bootstrap, pre-registered 20% gap reduction and 1% non-inferiority criteria.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Proposal § 2.4, 4.5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794760"/>
            <a:ext cx="5440680" cy="2148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3794760"/>
            <a:ext cx="91440" cy="2148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3959352"/>
            <a:ext cx="49377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A2744"/>
                </a:solidFill>
                <a:latin typeface="Calibri"/>
              </a:rPr>
              <a:t>4. Ablations, sensitivity &amp; risk</a:t>
            </a:r>
          </a:p>
          <a:p>
            <a:pPr algn="l">
              <a:spcAft>
                <a:spcPts val="600"/>
              </a:spcAft>
            </a:pPr>
            <a:r>
              <a:rPr sz="1450" b="0" i="0">
                <a:solidFill>
                  <a:srgbClr val="5A6476"/>
                </a:solidFill>
                <a:latin typeface="Calibri"/>
              </a:rPr>
              <a:t>E0-E8 comparison set, negative controls, alignment sensitivity envelope, month-1 feasibility audit.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Proposal § 4.5, 4.6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053328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5A6476"/>
                </a:solidFill>
                <a:latin typeface="Calibri"/>
              </a:rPr>
              <a:t>Together these turn the group's model idea into an auditable experiment.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BLOCK 1  ·  § 4.3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Defining what counts as non-recurring congestion</a:t>
            </a:r>
          </a:p>
        </p:txBody>
      </p:sp>
      <p:pic>
        <p:nvPicPr>
          <p:cNvPr id="5" name="Picture 4" descr="fig_episode_defin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7635240" cy="3499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25880"/>
            <a:ext cx="3429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B8860B"/>
                </a:solidFill>
                <a:latin typeface="Calibri"/>
              </a:rPr>
              <a:t>▪ </a:t>
            </a:r>
            <a:r>
              <a:rPr sz="1350" b="1">
                <a:solidFill>
                  <a:srgbClr val="1A2744"/>
                </a:solidFill>
                <a:latin typeface="Calibri"/>
              </a:rPr>
              <a:t>Problem: </a:t>
            </a:r>
            <a:r>
              <a:rPr sz="1350">
                <a:solidFill>
                  <a:srgbClr val="1A2744"/>
                </a:solidFill>
                <a:latin typeface="Calibri"/>
              </a:rPr>
              <a:t>a detector fault, an ordinary peak and a crash queue all look like "low speed".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0B"/>
                </a:solidFill>
                <a:latin typeface="Calibri"/>
              </a:rPr>
              <a:t>▪ </a:t>
            </a:r>
            <a:r>
              <a:rPr sz="1350" b="1">
                <a:solidFill>
                  <a:srgbClr val="1A2744"/>
                </a:solidFill>
                <a:latin typeface="Calibri"/>
              </a:rPr>
              <a:t>Every threshold from training data only: </a:t>
            </a:r>
            <a:r>
              <a:rPr sz="1350">
                <a:solidFill>
                  <a:srgbClr val="1A2744"/>
                </a:solidFill>
                <a:latin typeface="Calibri"/>
              </a:rPr>
              <a:t>free-flow = 85th pct of overnight obs; episode = &lt; 70% free-flow for ≥ 15 min.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0B"/>
                </a:solidFill>
                <a:latin typeface="Calibri"/>
              </a:rPr>
              <a:t>▪ </a:t>
            </a:r>
            <a:r>
              <a:rPr sz="1350" b="1">
                <a:solidFill>
                  <a:srgbClr val="1A2744"/>
                </a:solidFill>
                <a:latin typeface="Calibri"/>
              </a:rPr>
              <a:t>Non-recurring needs two signals: </a:t>
            </a:r>
            <a:r>
              <a:rPr sz="1350">
                <a:solidFill>
                  <a:srgbClr val="1A2744"/>
                </a:solidFill>
                <a:latin typeface="Calibri"/>
              </a:rPr>
              <a:t>≥ 20% / 15 km/h below expected profile AND an independently recorded disruption.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B8860B"/>
                </a:solidFill>
                <a:latin typeface="Calibri"/>
              </a:rPr>
              <a:t>▪ </a:t>
            </a:r>
            <a:r>
              <a:rPr sz="1350" b="1">
                <a:solidFill>
                  <a:srgbClr val="1A2744"/>
                </a:solidFill>
                <a:latin typeface="Calibri"/>
              </a:rPr>
              <a:t>Labels stratify evaluation only </a:t>
            </a:r>
            <a:r>
              <a:rPr sz="1350">
                <a:solidFill>
                  <a:srgbClr val="1A2744"/>
                </a:solidFill>
                <a:latin typeface="Calibri"/>
              </a:rPr>
              <a:t>- never training targets, so the model cannot learn the labels.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892040"/>
            <a:ext cx="7635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1">
                <a:solidFill>
                  <a:srgbClr val="B8860B"/>
                </a:solidFill>
                <a:latin typeface="Calibri"/>
              </a:rPr>
              <a:t>Answers tutor feedback #9: "define how it will be labelled experimentally".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5A6476"/>
                </a:solidFill>
                <a:latin typeface="Calibri"/>
              </a:rPr>
              <a:t>Ambiguous cases are excluded from the primary analysis and reported in sensitivity analysis.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BLOCK 2  ·  § 4.3, 4.5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Leakage controls and a fair comparison</a:t>
            </a:r>
          </a:p>
        </p:txBody>
      </p:sp>
      <p:pic>
        <p:nvPicPr>
          <p:cNvPr id="5" name="Picture 4" descr="fig_chronological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8412480" cy="2628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0" y="1325880"/>
            <a:ext cx="2651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>
                <a:solidFill>
                  <a:srgbClr val="B8860B"/>
                </a:solidFill>
                <a:latin typeface="Calibri"/>
              </a:rPr>
              <a:t>▪ </a:t>
            </a:r>
            <a:r>
              <a:rPr sz="1300" b="1">
                <a:solidFill>
                  <a:srgbClr val="1A2744"/>
                </a:solidFill>
                <a:latin typeface="Calibri"/>
              </a:rPr>
              <a:t>Random splits leak: </a:t>
            </a:r>
            <a:r>
              <a:rPr sz="1300">
                <a:solidFill>
                  <a:srgbClr val="1A2744"/>
                </a:solidFill>
                <a:latin typeface="Calibri"/>
              </a:rPr>
              <a:t>two windows of the same crash land in train AND test.</a:t>
            </a:r>
          </a:p>
          <a:p>
            <a:pPr>
              <a:spcAft>
                <a:spcPts val="1000"/>
              </a:spcAft>
            </a:pPr>
            <a:r>
              <a:rPr sz="1300" b="1">
                <a:solidFill>
                  <a:srgbClr val="B8860B"/>
                </a:solidFill>
                <a:latin typeface="Calibri"/>
              </a:rPr>
              <a:t>▪ </a:t>
            </a:r>
            <a:r>
              <a:rPr sz="1300" b="1">
                <a:solidFill>
                  <a:srgbClr val="1A2744"/>
                </a:solidFill>
                <a:latin typeface="Calibri"/>
              </a:rPr>
              <a:t>Forecast-time rules: </a:t>
            </a:r>
            <a:r>
              <a:rPr sz="1300">
                <a:solidFill>
                  <a:srgbClr val="1A2744"/>
                </a:solidFill>
                <a:latin typeface="Calibri"/>
              </a:rPr>
              <a:t>no final incident duration, no future weather at origin 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069080"/>
            <a:ext cx="11155680" cy="1874519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1060704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FAIRNESS BY CONSTRUCTION (with Zhenyu)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50" b="1">
                <a:solidFill>
                  <a:srgbClr val="B8860B"/>
                </a:solidFill>
                <a:latin typeface="Calibri"/>
              </a:rPr>
              <a:t>▪ </a:t>
            </a:r>
            <a:r>
              <a:rPr sz="1450" b="1">
                <a:solidFill>
                  <a:srgbClr val="1A2744"/>
                </a:solidFill>
                <a:latin typeface="Calibri"/>
              </a:rPr>
              <a:t>Same backbone: </a:t>
            </a:r>
            <a:r>
              <a:rPr sz="1450">
                <a:solidFill>
                  <a:srgbClr val="1A2744"/>
                </a:solidFill>
                <a:latin typeface="Calibri"/>
              </a:rPr>
              <a:t>baseline and context model share the Graph WaveNet encoder, splits, target and tuning budget.</a:t>
            </a:r>
          </a:p>
          <a:p>
            <a:pPr>
              <a:spcAft>
                <a:spcPts val="600"/>
              </a:spcAft>
            </a:pPr>
            <a:r>
              <a:rPr sz="1450" b="1">
                <a:solidFill>
                  <a:srgbClr val="B8860B"/>
                </a:solidFill>
                <a:latin typeface="Calibri"/>
              </a:rPr>
              <a:t>▪ </a:t>
            </a:r>
            <a:r>
              <a:rPr sz="1450" b="1">
                <a:solidFill>
                  <a:srgbClr val="1A2744"/>
                </a:solidFill>
                <a:latin typeface="Calibri"/>
              </a:rPr>
              <a:t>E8 capacity control: </a:t>
            </a:r>
            <a:r>
              <a:rPr sz="1450">
                <a:solidFill>
                  <a:srgbClr val="1A2744"/>
                </a:solidFill>
                <a:latin typeface="Calibri"/>
              </a:rPr>
              <a:t>a widened, parameter-matched traffic-only model - so a win cannot be explained by "more parameters".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BLOCK 3  ·  § 2.4, 4.5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Pre-registered decision rules and statistics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80160"/>
          <a:ext cx="111556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94360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Condition (ALL three required)</a:t>
                      </a:r>
                    </a:p>
                  </a:txBody>
                  <a:tcPr marL="73152" marR="73152" marT="36576" marB="36576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Criterion</a:t>
                      </a:r>
                    </a:p>
                  </a:txBody>
                  <a:tcPr marL="73152" marR="73152" marT="36576" marB="36576" anchor="ctr">
                    <a:solidFill>
                      <a:srgbClr val="1A274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1. Reliability gap  G = MAE(non-rec) - MAE(rec)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Reduced by ≥ 20% vs Graph WaveNet baseline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2. Non-recurring improvement is real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95% episode-block bootstrap CI excludes zero (10,000 resamples, 5 seeds)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3. Routine traffic is protected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2744"/>
                          </a:solidFill>
                          <a:latin typeface="Calibri"/>
                        </a:rPr>
                        <a:t>Recurring MAE upper confidence bound within 1% of baseline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5760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50" b="1">
                <a:solidFill>
                  <a:srgbClr val="B8860B"/>
                </a:solidFill>
                <a:latin typeface="Calibri"/>
              </a:rPr>
              <a:t>▪ </a:t>
            </a:r>
            <a:r>
              <a:rPr sz="1450" b="1">
                <a:solidFill>
                  <a:srgbClr val="1A2744"/>
                </a:solidFill>
                <a:latin typeface="Calibri"/>
              </a:rPr>
              <a:t>Why MAE? </a:t>
            </a:r>
            <a:r>
              <a:rPr sz="1450">
                <a:solidFill>
                  <a:srgbClr val="1A2744"/>
                </a:solidFill>
                <a:latin typeface="Calibri"/>
              </a:rPr>
              <a:t>Directly interpretable in km/h; RMSE is dominated by extreme errors; WAPE replaces MAPE, which explodes in stop-and-go traffic near zero speed.</a:t>
            </a:r>
          </a:p>
          <a:p>
            <a:pPr>
              <a:spcAft>
                <a:spcPts val="800"/>
              </a:spcAft>
            </a:pPr>
            <a:r>
              <a:rPr sz="1450" b="1">
                <a:solidFill>
                  <a:srgbClr val="B8860B"/>
                </a:solidFill>
                <a:latin typeface="Calibri"/>
              </a:rPr>
              <a:t>▪ </a:t>
            </a:r>
            <a:r>
              <a:rPr sz="1450" b="1">
                <a:solidFill>
                  <a:srgbClr val="1A2744"/>
                </a:solidFill>
                <a:latin typeface="Calibri"/>
              </a:rPr>
              <a:t>Why episode-block bootstrap? </a:t>
            </a:r>
            <a:r>
              <a:rPr sz="1450">
                <a:solidFill>
                  <a:srgbClr val="1A2744"/>
                </a:solidFill>
                <a:latin typeface="Calibri"/>
              </a:rPr>
              <a:t>Overlapping 5-min windows are not independent - resampling whole episodes preserves within-episode dependence. Diebold-Mariano as secondary diagnostic; Holm correction across ablations.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66360"/>
            <a:ext cx="11155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285232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0392B"/>
                </a:solidFill>
                <a:latin typeface="Calibri"/>
              </a:rPr>
              <a:t>BUILT-IN LIE DETECTOR (E7)</a:t>
            </a:r>
          </a:p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A2744"/>
                </a:solidFill>
                <a:latin typeface="Calibri"/>
              </a:rPr>
              <a:t>Re-run the model with context shuffled within time-of-day. If shuffled context still "helps", the pipeline is lying to 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91695" cy="54864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73152"/>
            <a:ext cx="10515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B8860B"/>
                </a:solidFill>
                <a:latin typeface="Calibri"/>
              </a:rPr>
              <a:t>BLOCK 4  ·  § 4.6</a:t>
            </a:r>
          </a:p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Feasibility first: risks, triggers, contingencies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The biggest risk is not building the model - it is having too few well-aligned non-recurring episodes to say anything meaningful.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96596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108960"/>
                <a:gridCol w="5394960"/>
              </a:tblGrid>
              <a:tr h="62179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36576" marB="36576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Early trigger</a:t>
                      </a:r>
                    </a:p>
                  </a:txBody>
                  <a:tcPr marL="73152" marR="73152" marT="36576" marB="36576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My contingency</a:t>
                      </a:r>
                    </a:p>
                  </a:txBody>
                  <a:tcPr marL="73152" marR="73152" marT="36576" marB="36576" anchor="ctr">
                    <a:solidFill>
                      <a:srgbClr val="1A2744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Too few non-recurring episodes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&lt; 200 test episodes or &lt; 30 per source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Month-1 audit BEFORE building anything; relax completeness gate to 85%, extend to next-largest connected component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Event data incomplete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Missing venue dates or unverifiable reuse terms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Official public schedules only; demote event ablation to exploratory before test access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Context model overfits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Validation gain vanishes across seeds, or shuffled context helps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Fall back to simple concatenation; strengthen regularisation; keep negative controls</a:t>
                      </a:r>
                    </a:p>
                  </a:txBody>
                  <a:tcPr marL="73152" marR="73152" marT="36576" marB="36576" anchor="ctr">
                    <a:solidFill>
                      <a:srgbClr val="F2F4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Compute exceeds budget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One trial &gt; 24 h or memory limit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1A2744"/>
                          </a:solidFill>
                          <a:latin typeface="Calibri"/>
                        </a:rPr>
                        <a:t>Sensor cap (300-800 stations), mixed precision, fixed trials, early stopping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32120"/>
            <a:ext cx="11155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1">
                <a:solidFill>
                  <a:srgbClr val="B8860B"/>
                </a:solidFill>
                <a:latin typeface="Calibri"/>
              </a:rPr>
              <a:t>Even if the 20% target is not met, the project still succeeds: the threshold is a decision rule, not a promised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Zhilin Ye  z5719978  |  Group 95  |  GSOE9011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5A64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04288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 i="1">
                <a:solidFill>
                  <a:srgbClr val="FFFFFF"/>
                </a:solidFill>
                <a:latin typeface="Calibri"/>
              </a:rPr>
              <a:t>“A model idea becomes research only when the experiment around it is trustworthy.”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834640"/>
            <a:ext cx="93268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B8860B"/>
                </a:solidFill>
                <a:latin typeface="Calibri"/>
              </a:rPr>
              <a:t>▪ </a:t>
            </a:r>
            <a:r>
              <a:rPr sz="1700" b="1">
                <a:solidFill>
                  <a:srgbClr val="E4E9F2"/>
                </a:solidFill>
                <a:latin typeface="Calibri"/>
              </a:rPr>
              <a:t>Connective tissue: </a:t>
            </a:r>
            <a:r>
              <a:rPr sz="1700">
                <a:solidFill>
                  <a:srgbClr val="E4E9F2"/>
                </a:solidFill>
                <a:latin typeface="Calibri"/>
              </a:rPr>
              <a:t>aligned data-quality assumptions with Xin and comparison fairness with Zhenyu, so one set of definitions runs through data, model and evaluation.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B8860B"/>
                </a:solidFill>
                <a:latin typeface="Calibri"/>
              </a:rPr>
              <a:t>▪ </a:t>
            </a:r>
            <a:r>
              <a:rPr sz="1700" b="1">
                <a:solidFill>
                  <a:srgbClr val="E4E9F2"/>
                </a:solidFill>
                <a:latin typeface="Calibri"/>
              </a:rPr>
              <a:t>Feasibility as design: </a:t>
            </a:r>
            <a:r>
              <a:rPr sz="1700">
                <a:solidFill>
                  <a:srgbClr val="E4E9F2"/>
                </a:solidFill>
                <a:latin typeface="Calibri"/>
              </a:rPr>
              <a:t>episode-count audit, compute caps and pre-declared fallbacks are built into the plan, not patched on later.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B8860B"/>
                </a:solidFill>
                <a:latin typeface="Calibri"/>
              </a:rPr>
              <a:t>▪ </a:t>
            </a:r>
            <a:r>
              <a:rPr sz="1700" b="1">
                <a:solidFill>
                  <a:srgbClr val="E4E9F2"/>
                </a:solidFill>
                <a:latin typeface="Calibri"/>
              </a:rPr>
              <a:t>The real product: </a:t>
            </a:r>
            <a:r>
              <a:rPr sz="1700">
                <a:solidFill>
                  <a:srgbClr val="E4E9F2"/>
                </a:solidFill>
                <a:latin typeface="Calibri"/>
              </a:rPr>
              <a:t>an auditable answer to when and where context data actually helps - my job was to make that answer worth believing.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B8860B"/>
                </a:solidFill>
                <a:latin typeface="Calibri"/>
              </a:rPr>
              <a:t>Thank you  |  Zhilin Ye  z5719978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